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70" r:id="rId4"/>
    <p:sldId id="371" r:id="rId5"/>
    <p:sldId id="372" r:id="rId6"/>
    <p:sldId id="373" r:id="rId7"/>
    <p:sldId id="374" r:id="rId8"/>
    <p:sldId id="375" r:id="rId9"/>
    <p:sldId id="378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330B6-9863-EA0F-A666-45B0E2728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7FEC52-9E50-5045-EFBD-318ABE1AC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525665-64C0-0C98-C1D2-8B28C459F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AE9F9-F738-4666-8164-7BB9853F268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1E417A-DBF9-16A7-B429-A974389A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E77079-0A6B-F726-147B-14B7C157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A285-1219-4DA0-839C-6E58F4A4C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307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30DBF-FD77-DEC4-CDF8-05D55D30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B8EDCC-5376-C564-62E0-EAA90D232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B67EDA-D8C2-6183-E7F5-3204E854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AE9F9-F738-4666-8164-7BB9853F268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98CEA1-9058-4FEA-B7FB-8388CF6B4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B6AD76-31F9-3910-DB9F-FBE20970D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A285-1219-4DA0-839C-6E58F4A4C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774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ED2F3-5069-80DD-CE03-A758440FE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9457B7-CBF1-B078-A6C2-59E48E3BB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4DC8D3-AD8C-2D4A-22B6-EF2A4C2C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AE9F9-F738-4666-8164-7BB9853F268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FB3AF0-D4AB-09CC-5452-1C21A267C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29527C-0E15-331B-59EB-2900A98C8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A285-1219-4DA0-839C-6E58F4A4C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915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365A73-FEFD-BE21-D263-C0C56622C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306776-95B4-B022-34B5-C13360221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9F4796-341E-0405-6AFC-9DAF7DA37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1B8781-B6CB-8D44-9404-DBB1EE086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AE9F9-F738-4666-8164-7BB9853F268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956C11-1943-FECD-D316-B4AEEEB7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15218F-746D-34F2-A666-9A7B8A433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A285-1219-4DA0-839C-6E58F4A4C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976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79269-1D38-D428-BD7B-5D89AE2A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7C03B8-6AD7-627E-67BD-AA7CDA89A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000FAAE-854D-1400-6B33-08841ABFC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7CA0B91-50F7-A815-489B-8361C4A7F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6FBDD4-851C-72B2-01D7-259DA8982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0DA44B2-F3C3-0F70-F612-C43CAB0D2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AE9F9-F738-4666-8164-7BB9853F268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1270C4E-9BF7-3E9F-90BF-82F03F15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3A28D81-4602-E477-6E40-E35097221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A285-1219-4DA0-839C-6E58F4A4C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06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51711-60FA-F2ED-2BD8-E96A09343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C24782-AE22-AD26-1206-9CD93C0E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AE9F9-F738-4666-8164-7BB9853F268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27C068-4803-3784-CB1B-5ED26BF2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A553F40-4013-2174-040D-D1671633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A285-1219-4DA0-839C-6E58F4A4C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68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C2AE920-3E1E-6EC7-9C18-F656D2AEC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AE9F9-F738-4666-8164-7BB9853F268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74D5178-3A63-C4F7-35B8-06B9E7509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F4BCE6-05E6-0D3B-2A77-1C7A4CE0C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A285-1219-4DA0-839C-6E58F4A4C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85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E26E36-EAF9-C628-4202-8980A6FA3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F4B2AD-AA56-8C98-B569-F012EF6D5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901614-586F-F378-59CF-DAC13988F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FB9C88-38ED-2FF8-7F66-FF1CF1B3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AE9F9-F738-4666-8164-7BB9853F268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AC83C2-7E74-6490-DA56-386CC23CA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F0DE26-7500-D976-18B7-605B654B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A285-1219-4DA0-839C-6E58F4A4C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315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194C5-205B-7E87-0DD8-73F413472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314CEF-03AE-E0FF-BD99-DD7B0B06DB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A24D16-3A77-3277-3935-B1F1E1413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F01F3F-B508-03A9-9520-FF3B02657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AE9F9-F738-4666-8164-7BB9853F268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21F743-FF78-93AD-FEA2-2FF3F312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A2108-E36B-472F-EA5B-6ED5CAF28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A285-1219-4DA0-839C-6E58F4A4C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1910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9786F-EDE3-D5A8-007D-F4DAA4626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758D31-494A-F966-E299-82D7B107B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E70F96-E642-963C-16F2-DCDB3CA7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AE9F9-F738-4666-8164-7BB9853F268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8BFDCB-8BDF-2E41-9103-34DE7DBD5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D6E6A6-6BF5-60B0-654C-A68CDE75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A285-1219-4DA0-839C-6E58F4A4C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2793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FFA71B1-DC8C-DE1E-066F-0BEC55FC06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61B6ED-A8A9-B513-ECF5-B095C5122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B40537-900C-F67F-5D47-68821E466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AE9F9-F738-4666-8164-7BB9853F268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23085B-99EE-D607-5127-29ACDC7EE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EC08AA-7848-B4DF-264B-BC07F8B40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A285-1219-4DA0-839C-6E58F4A4C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848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F2D45A-FF08-94D7-160C-550685942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2BFD4A-0737-FCF8-E725-10086ACF7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BB75AD-69C5-E120-CFD4-54AEE8F3B4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AE9F9-F738-4666-8164-7BB9853F2687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417C93-A7D8-8C9E-04BB-B7E023798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7BB31C-AF7D-3CA8-8AF1-14906B00A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6A285-1219-4DA0-839C-6E58F4A4C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87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10048CF-91A0-0A3B-ACA0-E934C6836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3419401"/>
            <a:ext cx="9144000" cy="480747"/>
          </a:xfrm>
        </p:spPr>
        <p:txBody>
          <a:bodyPr>
            <a:norm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AULA DE APRESENTAÇÃO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25BCA66-5064-E0A9-3C46-C5621BDBDED1}"/>
              </a:ext>
            </a:extLst>
          </p:cNvPr>
          <p:cNvSpPr/>
          <p:nvPr/>
        </p:nvSpPr>
        <p:spPr>
          <a:xfrm>
            <a:off x="0" y="0"/>
            <a:ext cx="12192000" cy="123712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4CD5EFE-EC6B-2C07-EE65-B24434A8268D}"/>
              </a:ext>
            </a:extLst>
          </p:cNvPr>
          <p:cNvSpPr/>
          <p:nvPr/>
        </p:nvSpPr>
        <p:spPr>
          <a:xfrm>
            <a:off x="0" y="6347012"/>
            <a:ext cx="12192000" cy="5109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B477B9A9-0D0E-FC7E-DC00-9227305B6B33}"/>
              </a:ext>
            </a:extLst>
          </p:cNvPr>
          <p:cNvSpPr txBox="1">
            <a:spLocks/>
          </p:cNvSpPr>
          <p:nvPr/>
        </p:nvSpPr>
        <p:spPr>
          <a:xfrm>
            <a:off x="1184012" y="2219532"/>
            <a:ext cx="9823972" cy="10929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pt-BR" sz="3200" b="1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ECONOMIA BRASILEIRA CONTEMPORÂNEA</a:t>
            </a:r>
            <a:endParaRPr lang="pt-BR" sz="3200" u="sng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75BA95CE-53BD-E603-F8E5-60B581FB5D0B}"/>
              </a:ext>
            </a:extLst>
          </p:cNvPr>
          <p:cNvSpPr txBox="1">
            <a:spLocks/>
          </p:cNvSpPr>
          <p:nvPr/>
        </p:nvSpPr>
        <p:spPr>
          <a:xfrm>
            <a:off x="1523998" y="5006780"/>
            <a:ext cx="9144000" cy="384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Prof. Dr. Adilson Padovan Junior</a:t>
            </a:r>
            <a:endParaRPr lang="pt-BR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pt-BR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6237CD-C220-70E1-A406-3D4344363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308" y="6498137"/>
            <a:ext cx="8998325" cy="255495"/>
          </a:xfrm>
        </p:spPr>
        <p:txBody>
          <a:bodyPr>
            <a:no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+mn-lt"/>
              </a:rPr>
              <a:t>Disciplina: Economia Brasileira Contemporânea | UNESPAR - Campus Campo Mourão | Ano letivo: 2026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DA55FB8F-3769-1B37-8D91-399826BC7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470" y="107576"/>
            <a:ext cx="3848002" cy="103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60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8964451B-8FEC-52C2-E9EF-C84EE6B09BF6}"/>
              </a:ext>
            </a:extLst>
          </p:cNvPr>
          <p:cNvSpPr/>
          <p:nvPr/>
        </p:nvSpPr>
        <p:spPr>
          <a:xfrm>
            <a:off x="0" y="6347012"/>
            <a:ext cx="12192000" cy="5109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E00E35-D941-A6EB-0DFD-79885F443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6054"/>
            <a:ext cx="10515600" cy="1038677"/>
          </a:xfrm>
        </p:spPr>
        <p:txBody>
          <a:bodyPr>
            <a:normAutofit/>
          </a:bodyPr>
          <a:lstStyle/>
          <a:p>
            <a:pPr algn="ctr"/>
            <a:r>
              <a:rPr lang="pt-BR" sz="4000" b="1" u="sng" dirty="0">
                <a:latin typeface="Arial" panose="020B0604020202020204" pitchFamily="34" charset="0"/>
                <a:cs typeface="Arial" panose="020B0604020202020204" pitchFamily="34" charset="0"/>
              </a:rPr>
              <a:t>Objetivo da disciplina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C08DB2-9E3D-4D18-00B0-8ACDC912D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3663"/>
            <a:ext cx="10515600" cy="3924416"/>
          </a:xfrm>
        </p:spPr>
        <p:txBody>
          <a:bodyPr>
            <a:normAutofit/>
          </a:bodyPr>
          <a:lstStyle/>
          <a:p>
            <a:pPr algn="just"/>
            <a:r>
              <a:rPr lang="pt-BR" sz="24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Analisar a evolução histórica da economia brasileira desde o início do processo de industrialização até o período contemporâneo.</a:t>
            </a:r>
          </a:p>
          <a:p>
            <a:pPr algn="just"/>
            <a:r>
              <a:rPr lang="pt-BR" sz="24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Compreender os principais ciclos econômicos, crises e transformações estruturais da economia brasileira.</a:t>
            </a:r>
          </a:p>
          <a:p>
            <a:pPr algn="just"/>
            <a:r>
              <a:rPr lang="pt-BR" sz="24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Discutir os principais debates sobre política econômica, desenvolvimento e inserção internacional do Brasil.</a:t>
            </a:r>
          </a:p>
          <a:p>
            <a:pPr algn="just"/>
            <a:r>
              <a:rPr lang="pt-BR" sz="24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Desenvolver a capacidade de análise da conjuntura econômica brasileira.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B6B2E55-1DD5-51DB-5727-73FEC620B87E}"/>
              </a:ext>
            </a:extLst>
          </p:cNvPr>
          <p:cNvSpPr/>
          <p:nvPr/>
        </p:nvSpPr>
        <p:spPr>
          <a:xfrm>
            <a:off x="-1" y="0"/>
            <a:ext cx="12192000" cy="3063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A950434-E8A6-F564-9A10-0B38D803F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574" y="6432480"/>
            <a:ext cx="1340450" cy="35894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D0005D82-C812-DD9F-2CF6-D40036FF135F}"/>
              </a:ext>
            </a:extLst>
          </p:cNvPr>
          <p:cNvSpPr txBox="1">
            <a:spLocks/>
          </p:cNvSpPr>
          <p:nvPr/>
        </p:nvSpPr>
        <p:spPr>
          <a:xfrm>
            <a:off x="94129" y="6453962"/>
            <a:ext cx="5755342" cy="3038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>
                <a:solidFill>
                  <a:schemeClr val="bg1"/>
                </a:solidFill>
                <a:latin typeface="+mn-lt"/>
              </a:rPr>
              <a:t>Disciplina: Economia Brasileira Contemporânea</a:t>
            </a:r>
            <a:endParaRPr lang="pt-BR" sz="14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9061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243A-B54C-3F20-2061-96512612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A1EE21AE-F557-D249-7D88-521118AA9203}"/>
              </a:ext>
            </a:extLst>
          </p:cNvPr>
          <p:cNvSpPr/>
          <p:nvPr/>
        </p:nvSpPr>
        <p:spPr>
          <a:xfrm>
            <a:off x="0" y="6347012"/>
            <a:ext cx="12192000" cy="5109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CD37E1-FC4B-08A9-7632-87AB11EDF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06054"/>
            <a:ext cx="10515600" cy="1038677"/>
          </a:xfrm>
        </p:spPr>
        <p:txBody>
          <a:bodyPr>
            <a:normAutofit/>
          </a:bodyPr>
          <a:lstStyle/>
          <a:p>
            <a:pPr algn="ctr"/>
            <a:r>
              <a:rPr lang="pt-BR" b="1" u="sng" dirty="0">
                <a:latin typeface="Arial" panose="020B0604020202020204" pitchFamily="34" charset="0"/>
                <a:cs typeface="Arial" panose="020B0604020202020204" pitchFamily="34" charset="0"/>
              </a:rPr>
              <a:t>Estrutura geral da disciplina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649CA8-7854-9515-F50B-C28169ABA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541494"/>
            <a:ext cx="10515600" cy="3682369"/>
          </a:xfrm>
        </p:spPr>
        <p:txBody>
          <a:bodyPr>
            <a:normAutofit/>
          </a:bodyPr>
          <a:lstStyle/>
          <a:p>
            <a:pPr algn="just"/>
            <a:r>
              <a:rPr lang="pt-BR" sz="24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Formação da economia brasileira moderna e início da industrialização.</a:t>
            </a:r>
          </a:p>
          <a:p>
            <a:pPr algn="just"/>
            <a:r>
              <a:rPr lang="pt-BR" sz="24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Industrialização e desenvolvimento econômico (1930–1970).</a:t>
            </a:r>
          </a:p>
          <a:p>
            <a:pPr algn="just"/>
            <a:r>
              <a:rPr lang="pt-BR" sz="24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Crise econômica e instabilidade macroeconômica (1980–1990).</a:t>
            </a:r>
          </a:p>
          <a:p>
            <a:pPr algn="just"/>
            <a:r>
              <a:rPr lang="pt-BR" sz="24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Reformas econômicas, estabilização e economia contemporânea.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EADBA8D-C216-09A1-55AD-BFF81DB7F57D}"/>
              </a:ext>
            </a:extLst>
          </p:cNvPr>
          <p:cNvSpPr/>
          <p:nvPr/>
        </p:nvSpPr>
        <p:spPr>
          <a:xfrm>
            <a:off x="-1" y="0"/>
            <a:ext cx="12192000" cy="3063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F280919-B20A-B44D-2840-94FEF924F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574" y="6432480"/>
            <a:ext cx="1340450" cy="35894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A9CBF5DA-9D10-79AD-4F4F-FF473BF15C0B}"/>
              </a:ext>
            </a:extLst>
          </p:cNvPr>
          <p:cNvSpPr txBox="1">
            <a:spLocks/>
          </p:cNvSpPr>
          <p:nvPr/>
        </p:nvSpPr>
        <p:spPr>
          <a:xfrm>
            <a:off x="94129" y="6453962"/>
            <a:ext cx="5755342" cy="3038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>
                <a:solidFill>
                  <a:schemeClr val="bg1"/>
                </a:solidFill>
                <a:latin typeface="+mn-lt"/>
              </a:rPr>
              <a:t>Disciplina: Economia Brasileira Contemporânea</a:t>
            </a:r>
            <a:endParaRPr lang="pt-BR" sz="14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8009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3ABCF-F4C3-9855-A997-F3D1C65D6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9C7A2F30-F8DB-CF0B-0040-48692E663296}"/>
              </a:ext>
            </a:extLst>
          </p:cNvPr>
          <p:cNvSpPr/>
          <p:nvPr/>
        </p:nvSpPr>
        <p:spPr>
          <a:xfrm>
            <a:off x="0" y="6347012"/>
            <a:ext cx="12192000" cy="5109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7788A3-6C42-F2FB-6125-3275D887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99738"/>
            <a:ext cx="10515600" cy="1038677"/>
          </a:xfrm>
        </p:spPr>
        <p:txBody>
          <a:bodyPr>
            <a:normAutofit/>
          </a:bodyPr>
          <a:lstStyle/>
          <a:p>
            <a:pPr algn="ctr"/>
            <a:r>
              <a:rPr lang="pt-BR" sz="4000" b="1" u="sng" dirty="0">
                <a:latin typeface="Arial" panose="020B0604020202020204" pitchFamily="34" charset="0"/>
                <a:cs typeface="Arial" panose="020B0604020202020204" pitchFamily="34" charset="0"/>
              </a:rPr>
              <a:t>Conteúdo programático (visão geral)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86AC4D-B760-3FF5-2724-03C901FCB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38415"/>
            <a:ext cx="10515600" cy="44622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b="1" u="sng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1º Bimestre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Economia brasileira no século XIX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Primeira República (1889–1930)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Origem da industrialização brasileira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Crise de 1929 e fim da República Oligárquica</a:t>
            </a:r>
          </a:p>
          <a:p>
            <a:pPr algn="just"/>
            <a:endParaRPr lang="pt-BR" sz="2000" kern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sz="2000" b="1" u="sng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2º Bimestre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Era Vargas e industrialização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Governo Dutra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Segundo governo Vargas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Governo Juscelino Kubitschek e Plano de Metas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A3AC749-9795-39AB-E6F8-E576DC92F98C}"/>
              </a:ext>
            </a:extLst>
          </p:cNvPr>
          <p:cNvSpPr/>
          <p:nvPr/>
        </p:nvSpPr>
        <p:spPr>
          <a:xfrm>
            <a:off x="-1" y="0"/>
            <a:ext cx="12192000" cy="3063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C9EC1DE-4A62-4A4A-6285-20436BEB6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574" y="6432480"/>
            <a:ext cx="1340450" cy="35894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A1CB167E-57C7-6CE8-3CF6-B0BFE233A358}"/>
              </a:ext>
            </a:extLst>
          </p:cNvPr>
          <p:cNvSpPr txBox="1">
            <a:spLocks/>
          </p:cNvSpPr>
          <p:nvPr/>
        </p:nvSpPr>
        <p:spPr>
          <a:xfrm>
            <a:off x="94129" y="6453962"/>
            <a:ext cx="5755342" cy="3038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>
                <a:solidFill>
                  <a:schemeClr val="bg1"/>
                </a:solidFill>
                <a:latin typeface="+mn-lt"/>
              </a:rPr>
              <a:t>Disciplina: Economia Brasileira Contemporânea</a:t>
            </a:r>
            <a:endParaRPr lang="pt-BR" sz="14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3398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1E43D-67FD-C51E-D92C-F09F2D223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F8B89CE6-F2D4-93D5-8C14-75CB6B2A9F67}"/>
              </a:ext>
            </a:extLst>
          </p:cNvPr>
          <p:cNvSpPr/>
          <p:nvPr/>
        </p:nvSpPr>
        <p:spPr>
          <a:xfrm>
            <a:off x="0" y="6347012"/>
            <a:ext cx="12192000" cy="5109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B30946-49B2-2D8E-0C30-B3F45AEFB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99738"/>
            <a:ext cx="10515600" cy="1038677"/>
          </a:xfrm>
        </p:spPr>
        <p:txBody>
          <a:bodyPr>
            <a:norm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Conteúdo programático (continuação)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BF5123-0F21-B089-272D-5CCA420CF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45365"/>
            <a:ext cx="10515600" cy="444081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pt-BR" sz="2000" b="1" u="sng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3º Bimestre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Governo Jânio Quadros e João Goulart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Programa de Ação Econômica do Governo (PAEG)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Milagre Econômico (1968–1973)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II Plano Nacional de Desenvolvimento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década perdida (anos 1980)</a:t>
            </a:r>
          </a:p>
          <a:p>
            <a:pPr algn="just"/>
            <a:endParaRPr lang="pt-BR" sz="2000" kern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sz="2000" b="1" u="sng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4º Bimestre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Planos de estabilização (Cruzado, Bresser, Verão e Collor)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Governos FHC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Governos Lula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Governo Dilma Rousseff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6464C55-C306-9842-5FF5-DA797F433EFE}"/>
              </a:ext>
            </a:extLst>
          </p:cNvPr>
          <p:cNvSpPr/>
          <p:nvPr/>
        </p:nvSpPr>
        <p:spPr>
          <a:xfrm>
            <a:off x="-1" y="0"/>
            <a:ext cx="12192000" cy="3063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79D80A5-81CA-7E3B-0081-D4AC0BFC5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574" y="6432480"/>
            <a:ext cx="1340450" cy="35894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6B1017E-2B89-B2E4-3371-FAE14179A0D0}"/>
              </a:ext>
            </a:extLst>
          </p:cNvPr>
          <p:cNvSpPr txBox="1">
            <a:spLocks/>
          </p:cNvSpPr>
          <p:nvPr/>
        </p:nvSpPr>
        <p:spPr>
          <a:xfrm>
            <a:off x="94129" y="6453962"/>
            <a:ext cx="5755342" cy="3038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>
                <a:solidFill>
                  <a:schemeClr val="bg1"/>
                </a:solidFill>
                <a:latin typeface="+mn-lt"/>
              </a:rPr>
              <a:t>Disciplina: Economia Brasileira Contemporânea</a:t>
            </a:r>
            <a:endParaRPr lang="pt-BR" sz="14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7129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92C2B-9259-B59A-525E-3A0476332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FCBCCD18-DEF5-9168-8052-A4B396B28AC1}"/>
              </a:ext>
            </a:extLst>
          </p:cNvPr>
          <p:cNvSpPr/>
          <p:nvPr/>
        </p:nvSpPr>
        <p:spPr>
          <a:xfrm>
            <a:off x="0" y="6347012"/>
            <a:ext cx="12192000" cy="5109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2D5574-29F8-E662-E384-C5EB7AB12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99738"/>
            <a:ext cx="10515600" cy="1038677"/>
          </a:xfrm>
        </p:spPr>
        <p:txBody>
          <a:bodyPr>
            <a:normAutofit/>
          </a:bodyPr>
          <a:lstStyle/>
          <a:p>
            <a:pPr algn="ctr"/>
            <a:r>
              <a:rPr lang="pt-BR" sz="4000" b="1" u="sng" dirty="0">
                <a:latin typeface="Arial" panose="020B0604020202020204" pitchFamily="34" charset="0"/>
                <a:cs typeface="Arial" panose="020B0604020202020204" pitchFamily="34" charset="0"/>
              </a:rPr>
              <a:t>Metodologia e avaliação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7404E7-7E48-D4A4-5F88-32F067DD1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61564"/>
            <a:ext cx="10515600" cy="44622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b="1" u="sng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Metodologia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Aulas expositivas dialogadas.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Discussão de textos e dados econômicos.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Estudos de caso e debates.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Eventuais atividades ou trabalhos.</a:t>
            </a:r>
          </a:p>
          <a:p>
            <a:pPr algn="just"/>
            <a:endParaRPr lang="pt-BR" sz="2000" kern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sz="2000" b="1" u="sng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Avaliação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 avaliações (uma por bimestre).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Exercícios, trabalhos e atividades ao longo do curso.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Média mínima para aprovação: 7,0.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C1E9E0F-5D37-3C88-2FEA-55CDBBBEF4A1}"/>
              </a:ext>
            </a:extLst>
          </p:cNvPr>
          <p:cNvSpPr/>
          <p:nvPr/>
        </p:nvSpPr>
        <p:spPr>
          <a:xfrm>
            <a:off x="-1" y="0"/>
            <a:ext cx="12192000" cy="3063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1ABAEB6-ECF0-249C-F570-1C194FA71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574" y="6432480"/>
            <a:ext cx="1340450" cy="35894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E5E723C-3A97-FF94-1B7E-53172099D193}"/>
              </a:ext>
            </a:extLst>
          </p:cNvPr>
          <p:cNvSpPr txBox="1">
            <a:spLocks/>
          </p:cNvSpPr>
          <p:nvPr/>
        </p:nvSpPr>
        <p:spPr>
          <a:xfrm>
            <a:off x="94129" y="6453962"/>
            <a:ext cx="5755342" cy="3038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>
                <a:solidFill>
                  <a:schemeClr val="bg1"/>
                </a:solidFill>
                <a:latin typeface="+mn-lt"/>
              </a:rPr>
              <a:t>Disciplina: Economia Brasileira Contemporânea</a:t>
            </a:r>
            <a:endParaRPr lang="pt-BR" sz="14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4723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815D0-EFF5-4512-F0E3-F7ECDDD8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7BFAEFA9-EAC8-4F82-B686-472D357B3FEA}"/>
              </a:ext>
            </a:extLst>
          </p:cNvPr>
          <p:cNvSpPr/>
          <p:nvPr/>
        </p:nvSpPr>
        <p:spPr>
          <a:xfrm>
            <a:off x="0" y="6347012"/>
            <a:ext cx="12192000" cy="5109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1958F6-8BE2-5615-73BE-0C15D4FCE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5782"/>
            <a:ext cx="10515600" cy="1038677"/>
          </a:xfrm>
        </p:spPr>
        <p:txBody>
          <a:bodyPr>
            <a:normAutofit/>
          </a:bodyPr>
          <a:lstStyle/>
          <a:p>
            <a:pPr algn="ctr"/>
            <a:r>
              <a:rPr lang="pt-BR" sz="4000" b="1" u="sng" dirty="0">
                <a:latin typeface="Arial" panose="020B0604020202020204" pitchFamily="34" charset="0"/>
                <a:cs typeface="Arial" panose="020B0604020202020204" pitchFamily="34" charset="0"/>
              </a:rPr>
              <a:t>Regras e funcionamento da disciplina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6B1928-A14D-E98D-6E76-D9553540D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528047"/>
            <a:ext cx="10515600" cy="3695816"/>
          </a:xfrm>
        </p:spPr>
        <p:txBody>
          <a:bodyPr>
            <a:normAutofit/>
          </a:bodyPr>
          <a:lstStyle/>
          <a:p>
            <a:pPr algn="just"/>
            <a:r>
              <a:rPr lang="pt-BR" sz="24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Frequência mínima obrigatória: 75% da carga horária.</a:t>
            </a:r>
          </a:p>
          <a:p>
            <a:pPr algn="just"/>
            <a:r>
              <a:rPr lang="pt-BR" sz="24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Tolerância de 10 minutos para atraso no início da aula.</a:t>
            </a:r>
          </a:p>
          <a:p>
            <a:pPr algn="just"/>
            <a:r>
              <a:rPr lang="pt-BR" sz="24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Celulares desligados.</a:t>
            </a:r>
          </a:p>
          <a:p>
            <a:pPr algn="just"/>
            <a:r>
              <a:rPr lang="pt-BR" sz="24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Uso de notebook permitido para fins acadêmicos.</a:t>
            </a:r>
          </a:p>
          <a:p>
            <a:pPr algn="just"/>
            <a:r>
              <a:rPr lang="pt-BR" sz="24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Materiais, textos e avisos poderão ser enviados por e-mail ou Moodle.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64AD9F-68F0-7F10-041D-054422B27CF1}"/>
              </a:ext>
            </a:extLst>
          </p:cNvPr>
          <p:cNvSpPr/>
          <p:nvPr/>
        </p:nvSpPr>
        <p:spPr>
          <a:xfrm>
            <a:off x="-1" y="0"/>
            <a:ext cx="12192000" cy="3063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E3ED428-5341-BADE-DD14-6FFA8B290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574" y="6432480"/>
            <a:ext cx="1340450" cy="35894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B55C9575-F615-2C26-B1B5-527A416BD1E9}"/>
              </a:ext>
            </a:extLst>
          </p:cNvPr>
          <p:cNvSpPr txBox="1">
            <a:spLocks/>
          </p:cNvSpPr>
          <p:nvPr/>
        </p:nvSpPr>
        <p:spPr>
          <a:xfrm>
            <a:off x="94129" y="6453962"/>
            <a:ext cx="5755342" cy="3038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>
                <a:solidFill>
                  <a:schemeClr val="bg1"/>
                </a:solidFill>
                <a:latin typeface="+mn-lt"/>
              </a:rPr>
              <a:t>Disciplina: Economia Brasileira Contemporânea</a:t>
            </a:r>
            <a:endParaRPr lang="pt-BR" sz="14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3814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3BA90-1D98-6321-86B1-808F251D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D3D3970-B444-8B77-08E7-2685CD1F73A6}"/>
              </a:ext>
            </a:extLst>
          </p:cNvPr>
          <p:cNvSpPr/>
          <p:nvPr/>
        </p:nvSpPr>
        <p:spPr>
          <a:xfrm>
            <a:off x="0" y="6347012"/>
            <a:ext cx="12192000" cy="5109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D3184F-2F29-7207-DF45-91D651DE7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99738"/>
            <a:ext cx="10515600" cy="1038677"/>
          </a:xfrm>
        </p:spPr>
        <p:txBody>
          <a:bodyPr>
            <a:normAutofit/>
          </a:bodyPr>
          <a:lstStyle/>
          <a:p>
            <a:pPr algn="ctr"/>
            <a:r>
              <a:rPr lang="pt-BR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Bibliografia básica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79E436-AA24-CF61-873F-376443930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61564"/>
            <a:ext cx="10515600" cy="4462299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pt-BR" sz="2000" b="1" u="sng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Bibliografia básica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ABREU, Marcelo de Paiva (org.). A ordem do progresso. Rio de Janeiro: Campus, 1992.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GREMAUD, Amaury Patrick; VASCONCELLOS, Marco A. S.; TONETO JUNIOR, Rudinei. Economia brasileira contemporânea. 4. ed. São Paulo: Atlas, 2002.</a:t>
            </a:r>
          </a:p>
          <a:p>
            <a:pPr algn="just"/>
            <a:endParaRPr lang="pt-BR" sz="2000" kern="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sz="2000" b="1" u="sng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Bibliografia complementar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BAUMANN, Renato; GONÇALVES, </a:t>
            </a:r>
            <a:r>
              <a:rPr lang="pt-BR" sz="2000" kern="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Samo</a:t>
            </a:r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Manual do candidato: economia. Brasília: FUNAG, 2016.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GIAMBIAGI, Fabio et al. (</a:t>
            </a:r>
            <a:r>
              <a:rPr lang="pt-BR" sz="2000" kern="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orgs</a:t>
            </a:r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.). Economia brasileira contemporânea (1945–2015). 3. ed. Rio de Janeiro: Campus Elsevier, 2016.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REGO, José Márcio; MARQUES, Rosa Maria (</a:t>
            </a:r>
            <a:r>
              <a:rPr lang="pt-BR" sz="2000" kern="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orgs</a:t>
            </a:r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.). Economia brasileira. 4. ed. São Paulo: Saraiva, 2010.</a:t>
            </a:r>
          </a:p>
          <a:p>
            <a:pPr algn="just"/>
            <a:r>
              <a:rPr lang="pt-BR" sz="2000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SILVA, W. F. L. da. Economia brasileira contemporânea. Curitiba: IESDE, 2008.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038FBF2-01FE-B75C-4AF2-774E5C2E29A7}"/>
              </a:ext>
            </a:extLst>
          </p:cNvPr>
          <p:cNvSpPr/>
          <p:nvPr/>
        </p:nvSpPr>
        <p:spPr>
          <a:xfrm>
            <a:off x="-1" y="0"/>
            <a:ext cx="12192000" cy="3063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0650388-EAA3-FB89-9C36-6C32CF17F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574" y="6432480"/>
            <a:ext cx="1340450" cy="35894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9272362B-114E-8D44-DF89-3F1848F50908}"/>
              </a:ext>
            </a:extLst>
          </p:cNvPr>
          <p:cNvSpPr txBox="1">
            <a:spLocks/>
          </p:cNvSpPr>
          <p:nvPr/>
        </p:nvSpPr>
        <p:spPr>
          <a:xfrm>
            <a:off x="94129" y="6453962"/>
            <a:ext cx="5755342" cy="3038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>
                <a:solidFill>
                  <a:schemeClr val="bg1"/>
                </a:solidFill>
                <a:latin typeface="+mn-lt"/>
              </a:rPr>
              <a:t>Disciplina: Economia Brasileira Contemporânea</a:t>
            </a:r>
            <a:endParaRPr lang="pt-BR" sz="14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7667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796A5-D369-D6AE-0B40-A7E49A7B5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9ADF2E4-974C-5697-48D9-FE4806B02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3419401"/>
            <a:ext cx="9144000" cy="480747"/>
          </a:xfrm>
        </p:spPr>
        <p:txBody>
          <a:bodyPr>
            <a:norm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AULA DE APRESENTAÇÃO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4B6E962-73FB-2F7A-0641-F3503E9344A9}"/>
              </a:ext>
            </a:extLst>
          </p:cNvPr>
          <p:cNvSpPr/>
          <p:nvPr/>
        </p:nvSpPr>
        <p:spPr>
          <a:xfrm>
            <a:off x="0" y="0"/>
            <a:ext cx="12192000" cy="123712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3EA76E5-C6EE-CA6C-BDF1-7D200E7B0727}"/>
              </a:ext>
            </a:extLst>
          </p:cNvPr>
          <p:cNvSpPr/>
          <p:nvPr/>
        </p:nvSpPr>
        <p:spPr>
          <a:xfrm>
            <a:off x="0" y="6347012"/>
            <a:ext cx="12192000" cy="5109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DE559874-0365-79C4-44DB-B9ECE6E32F30}"/>
              </a:ext>
            </a:extLst>
          </p:cNvPr>
          <p:cNvSpPr txBox="1">
            <a:spLocks/>
          </p:cNvSpPr>
          <p:nvPr/>
        </p:nvSpPr>
        <p:spPr>
          <a:xfrm>
            <a:off x="1184012" y="2219532"/>
            <a:ext cx="9823972" cy="10929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pt-BR" sz="3200" b="1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ECONOMIA BRASILEIRA CONTEMPORÂNEA</a:t>
            </a:r>
            <a:endParaRPr lang="pt-BR" sz="3200" u="sng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BDD7BA1-105C-DCB1-8A66-B1289BB74E8F}"/>
              </a:ext>
            </a:extLst>
          </p:cNvPr>
          <p:cNvSpPr txBox="1">
            <a:spLocks/>
          </p:cNvSpPr>
          <p:nvPr/>
        </p:nvSpPr>
        <p:spPr>
          <a:xfrm>
            <a:off x="1523998" y="5006780"/>
            <a:ext cx="9144000" cy="384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Prof. Dr. Adilson Padovan Junior</a:t>
            </a:r>
            <a:endParaRPr lang="pt-BR" sz="1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pt-BR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642215-A89A-F158-D347-BC07B1EA6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308" y="6498137"/>
            <a:ext cx="8998325" cy="255495"/>
          </a:xfrm>
        </p:spPr>
        <p:txBody>
          <a:bodyPr>
            <a:no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+mn-lt"/>
              </a:rPr>
              <a:t>Disciplina: Economia Brasileira Contemporânea | UNESPAR - Campus Campo Mourão | Ano letivo: 2026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FBF9A520-A45F-E194-659B-BE24FCE94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470" y="107576"/>
            <a:ext cx="3848002" cy="103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90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2732</TotalTime>
  <Words>553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Disciplina: Economia Brasileira Contemporânea | UNESPAR - Campus Campo Mourão | Ano letivo: 2026</vt:lpstr>
      <vt:lpstr>Objetivo da disciplina</vt:lpstr>
      <vt:lpstr>Estrutura geral da disciplina</vt:lpstr>
      <vt:lpstr>Conteúdo programático (visão geral)</vt:lpstr>
      <vt:lpstr>Conteúdo programático (continuação)</vt:lpstr>
      <vt:lpstr>Metodologia e avaliação</vt:lpstr>
      <vt:lpstr>Regras e funcionamento da disciplina</vt:lpstr>
      <vt:lpstr>Bibliografia básica</vt:lpstr>
      <vt:lpstr>Disciplina: Economia Brasileira Contemporânea | UNESPAR - Campus Campo Mourão | Ano letivo: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PCE – Programa de Pós-Graduação em Ciências Econômicas</dc:title>
  <dc:creator>ADILSON PADOVAN JUNIOR</dc:creator>
  <cp:lastModifiedBy>qqq</cp:lastModifiedBy>
  <cp:revision>118</cp:revision>
  <dcterms:created xsi:type="dcterms:W3CDTF">2023-11-25T21:57:55Z</dcterms:created>
  <dcterms:modified xsi:type="dcterms:W3CDTF">2026-03-04T19:41:03Z</dcterms:modified>
</cp:coreProperties>
</file>